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formalmente la Inteligencia Artificial?</a:t>
            </a:r>
          </a:p>
          <a:p>
            <a:r>
              <a:t>Respuesta: Es el diseño de sistemas informáticos capaces de realizar tareas que habitualmente requieren inteligencia humana, tales como la percepción visual, el reconocimiento del habla, la toma de decisiones y la traducción de idiomas.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fueron los "sistemas expertos" en los primeros enfoques de la IA?</a:t>
            </a:r>
          </a:p>
          <a:p>
            <a:r>
              <a:t>Respuesta: Eran sistemas basados en la IA simbólica que dependían de reglas lógicas estrictas programadas por humanos.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la Inteligencia Artificial Estrecha (ANI)?</a:t>
            </a:r>
          </a:p>
          <a:p>
            <a:r>
              <a:t>Respuesta: También llamada IA débil, representa el estado actual de la tecnología donde los sistemas están altamente especializados en tareas singulares dentro de límites definidos.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la Inteligencia Artificial General (AGI)?</a:t>
            </a:r>
          </a:p>
          <a:p>
            <a:r>
              <a:t>Respuesta: Es un sistema hipotético capaz de comprender, aprender y aplicar conocimientos de forma transversal en una amplia gama de dominios, igualando o superando la capacidad intelectual humana promedio.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el Aprendizaje Automático (Machine Learning)?</a:t>
            </a:r>
          </a:p>
          <a:p>
            <a:r>
              <a:t>Respuesta: Es la disciplina central que permite a las computadoras aprender a partir de datos sin ser programadas explícitamente para una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¿En qué consiste el aprendizaje supervisado?</a:t>
            </a:r>
          </a:p>
          <a:p>
            <a:r>
              <a:t>Respuesta: Es cuando el algoritmo recibe un conjunto de datos etiquetados que actúan como verdad fundamental para aprender una función de mapeo desde las variables de entrada hacia una salida.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el Perceptrón Multicapa en Aprendizaje Profundo?</a:t>
            </a:r>
          </a:p>
          <a:p>
            <a:r>
              <a:t>Respuesta: Es la arquitectura de red neuronal artificial más básica, compuesta por una capa de entrada, múltiples capas ocultas intermedias y una capa de salida conectadas mediante pesos sinápticos.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¿Por qué son necesarias las funciones de activación no lineales en las redes neuronales?</a:t>
            </a:r>
          </a:p>
          <a:p>
            <a:r>
              <a:t>Respuesta: Porque sin ellas una red neuronal profunda colapsaría y equivaldría a una simple regresión lineal, perdiendo la capacidad de modelar distribuciones complejas.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introdujo la arquitectura Transformer en el procesamiento de lenguaje?</a:t>
            </a:r>
          </a:p>
          <a:p>
            <a:r>
              <a:t>Respuesta: Sustituyó la lectura secuencial de texto por un mecanismo de autoatención (Self-Attention) utilizando matrices de Consultas, Claves y Valores para ponderar dinámicamente las palabras en paralelo.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¿Cómo operan los Modelos de Difusión en la generación de imágenes?</a:t>
            </a:r>
          </a:p>
          <a:p>
            <a:r>
              <a:t>Respuesta: Operan mediante un proceso termodinámico inverso: añaden ruido gaussiano a una imagen hasta volverla estática pura y entrenan a una red neuronal para revertir dicho proceso y esculpir píxeles con sentido estético.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la IA Multimodal?</a:t>
            </a:r>
          </a:p>
          <a:p>
            <a:r>
              <a:t>Respuesta: Son modelos recientes diseñados para ingerir y procesar de manera nativa múltiples flujos de datos (como texto, video, audio y código) en un único espacio latente unificado.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¿Qué es el problema de la alineación de valores (Value Alignment Problem)?</a:t>
            </a:r>
          </a:p>
          <a:p>
            <a:r>
              <a:t>Respuesta: Es el desafío ético de garantizar que un agente artificial avanzado no interprete las instrucciones humanas de manera estrictamente literal pero con resultados catastróficos o peligrosos.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4EF5"/>
            </a:gs>
            <a:gs pos="100000">
              <a:srgbClr val="FF7A5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FLASHCARDS · INICIAL/BÁSICO (PRINCIPIANTE-JUNIOR)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920240"/>
            <a:ext cx="1072865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Tratado de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411480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Estas tarjetas explican de forma sencilla los conceptos clave, taxonomía y tecnologías detrás del desarrollo de software y sistemas de inteligencia artificial.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59893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Introducción y Evolución Histórica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1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formalmente la Inteligencia Artificial?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2D2440"/>
                </a:solidFill>
                <a:latin typeface="Arial"/>
              </a:rPr>
              <a:t>Es el diseño de sistemas informáticos capaces de realizar tareas que habitualmente requieren inteligencia humana, tales como la percepción visual, el reconocimiento del habla, la toma de decisiones y la traducción de idiomas.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Piensa en software capaz de imitar habilidades humanas básicas.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2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fueron los "sistemas expertos" en los primeros enfoques de la IA?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Eran sistemas basados en la IA simbólica que dependían de reglas lógicas estrictas programadas por humanos.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Funcionaban como un conjunto rígido de reglas de programación del tipo si/entonces.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Taxonomía de la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3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la Inteligencia Artificial Estrecha (ANI)?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También llamada IA débil, representa el estado actual de la tecnología donde los sistemas están altamente especializados en tareas singulares dentro de límites definidos.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Como una aplicación o motor de recomendación que solo sirve para una cosa específica.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4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la Inteligencia Artificial General (AGI)?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Es un sistema hipotético capaz de comprender, aprender y aplicar conocimientos de forma transversal en una amplia gama de dominios, igualando o superando la capacidad intelectual humana promedio.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El equivalente a una persona virtual con habilidades cognitivas universales.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Fundamentos del Aprendizaje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5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el Aprendizaje Automático (Machine Learning)?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Es la disciplina central que permite a las computadoras aprender a partir de datos sin ser programadas explícitamente para una tarea.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2D2440"/>
                </a:solidFill>
                <a:latin typeface="Arial"/>
              </a:rPr>
              <a:t>En lugar de escribir cada regla de código, alimentas al sistema con datos para que él mismo descubra los patrones.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6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¿En qué consiste el aprendizaje supervisado?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Es cuando el algoritmo recibe un conjunto de datos etiquetados que actúan como verdad fundamental para aprender una función de mapeo desde las variables de entrada hacia una salida.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Es como aprender con un profesor que te da tanto el ejercicio como la respuesta correcta.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Aprendizaje Profundo y Redes Neuronales Artificiales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7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el Perceptrón Multicapa en Aprendizaje Profundo?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Es la arquitectura de red neuronal artificial más básica, compuesta por una capa de entrada, múltiples capas ocultas intermedias y una capa de salida conectadas mediante pesos sinápticos.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Imagina capas de interruptores interconectados que pasan señales eléctricas procesadas.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8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¿Por qué son necesarias las funciones de activación no lineales en las redes neuronales?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Porque sin ellas una red neuronal profunda colapsaría y equivaldría a una simple regresión lineal, perdiendo la capacidad de modelar distribuciones complejas.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Añaden la chispa de complejidad necesaria para que la red no sea una simple línea recta.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La Revolución de la Arquitectura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9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introdujo la arquitectura Transformer en el procesamiento de lenguaje?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>
                <a:solidFill>
                  <a:srgbClr val="2D2440"/>
                </a:solidFill>
                <a:latin typeface="Arial"/>
              </a:rPr>
              <a:t>Sustituyó la lectura secuencial de texto por un mecanismo de autoatención (Self-Attention) utilizando matrices de Consultas, Claves y Valores para ponderar dinámicamente las palabras en paralelo.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Permite mirar toda una frase al mismo tiempo en lugar de leer palabra por palabra.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La Era de los Modelos Generativos y Multimodales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10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¿Cómo operan los Modelos de Difusión en la generación de imágenes?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0">
                <a:solidFill>
                  <a:srgbClr val="2D2440"/>
                </a:solidFill>
                <a:latin typeface="Arial"/>
              </a:rPr>
              <a:t>Operan mediante un proceso termodinámico inverso: añaden ruido gaussiano a una imagen hasta volverla estática pura y entrenan a una red neuronal para revertir dicho proceso y esculpir píxeles con sentido estético.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Como limpiar una ventana sucia de estática hasta ver una imagen clara.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11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la IA Multimodal?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Son modelos recientes diseñados para ingerir y procesar de manera nativa múltiples flujos de datos (como texto, video, audio y código) en un único espacio latente unificado.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Un sistema que puede ver, oír y leer al mismo tiempo como un humano.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FF7A59"/>
                </a:solidFill>
                <a:latin typeface="Arial"/>
              </a:rPr>
              <a:t>SECCIÓN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1153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1">
                <a:solidFill>
                  <a:srgbClr val="6C4EF5"/>
                </a:solidFill>
                <a:latin typeface="Arial"/>
              </a:rPr>
              <a:t>Ética, Gobernanza y Alineación Algorítmica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FF7A59"/>
                </a:solidFill>
                <a:latin typeface="Arial"/>
              </a:rPr>
              <a:t>TARJETA 12 DE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846320" cy="4754880"/>
          </a:xfrm>
          <a:prstGeom prst="roundRect">
            <a:avLst>
              <a:gd name="adj" fmla="val 8000"/>
            </a:avLst>
          </a:prstGeom>
          <a:solidFill>
            <a:srgbClr val="6C4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EFEAFF"/>
                </a:solidFill>
                <a:latin typeface="Arial"/>
              </a:rPr>
              <a:t>PREGUNTA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¿Qué es el problema de la alineación de valores (Value Alignment Problem)?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5699455" cy="3246120"/>
          </a:xfrm>
          <a:prstGeom prst="roundRect">
            <a:avLst>
              <a:gd name="adj" fmla="val 8000"/>
            </a:avLst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6C4EF5"/>
                </a:solidFill>
                <a:latin typeface="Arial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876495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>
                <a:solidFill>
                  <a:srgbClr val="2D2440"/>
                </a:solidFill>
                <a:latin typeface="Arial"/>
              </a:rPr>
              <a:t>Es el desafío ético de garantizar que un agente artificial avanzado no interprete las instrucciones humanas de manera estrictamente literal pero con resultados catastróficos o peligrosos.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526280"/>
            <a:ext cx="5699455" cy="1325880"/>
          </a:xfrm>
          <a:prstGeom prst="roundRect">
            <a:avLst>
              <a:gd name="adj" fmla="val 8000"/>
            </a:avLst>
          </a:prstGeom>
          <a:solidFill>
            <a:srgbClr val="FFF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709160"/>
            <a:ext cx="48764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E6480"/>
                </a:solidFill>
                <a:latin typeface="Arial"/>
              </a:rPr>
              <a:t>PISTA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29200"/>
            <a:ext cx="487649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2D2440"/>
                </a:solidFill>
                <a:latin typeface="Arial"/>
              </a:rPr>
              <a:t>El dilema del genio de la lámpara que cumple el deseo de forma literal destruyendo todo a su paso.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>
                <a:solidFill>
                  <a:srgbClr val="6E6480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C4EF5"/>
            </a:gs>
            <a:gs pos="100000">
              <a:srgbClr val="FF7A5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19" y="210312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34747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Material generado por Kairos a partir de «Tratado de Inteligencia Artificial».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Fidelidad a la fuente: 92%.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59893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Kairos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