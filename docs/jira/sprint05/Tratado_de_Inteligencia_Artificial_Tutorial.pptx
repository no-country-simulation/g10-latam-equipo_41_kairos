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 entre la Inteligencia Artificial Estrecha (ANI), que realiza tareas singulares y representa el estado actual, y la Inteligencia Artificial General (AGI), que busca igualar la capacidad intelectual humana de forma transversal.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 los paradigmas de aprendizaje: el aprendizaje supervisado (con datos etiquetados y funciones de pérdida), el aprendizaje no supervisado (con datos sin etiquetar para descubrir estructuras) y el aprendizaje por refuerzo.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Analiza cómo una neurona calcula la suma ponderada de sus entradas, añade un sesgo (bias) y pasa el resultado por una función de activación no lineal (como ReLU) para evitar que la red colapse.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Examina cómo operan los sistemas visuales modernos mediante un proceso termodinámico inverso, donde se añade ruido gaussiano a una imagen y se entrena a una red neuronal para revertir el proceso.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C4EF5"/>
            </a:gs>
            <a:gs pos="100000">
              <a:srgbClr val="FF7A5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463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TUTORIAL · INICIAL/BÁSICO (PRINCIPIANTE-JUNIOR)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1920240"/>
            <a:ext cx="1072865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Tratado de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411480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4 pasos · Comprender los fundamentos y la taxonomía de la Inteligencia Artificial.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59893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>
                <a:solidFill>
                  <a:srgbClr val="2D2440"/>
                </a:solidFill>
                <a:latin typeface="Arial"/>
              </a:rPr>
              <a:t>Objetivo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0911535" cy="201168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997135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600" b="1">
                <a:solidFill>
                  <a:srgbClr val="2D2440"/>
                </a:solidFill>
                <a:latin typeface="Arial"/>
              </a:rPr>
              <a:t>Comprender los fundamentos y la taxonomía de la Inteligencia Artificial.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Taxonomía de la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PASO 1 DE 4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0" cy="13716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43000"/>
            <a:ext cx="908273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>
                <a:solidFill>
                  <a:srgbClr val="2D2440"/>
                </a:solidFill>
                <a:latin typeface="Arial"/>
              </a:rPr>
              <a:t>Identificar los niveles de capacidad teórica de la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42316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Distingue entre la Inteligencia Artificial Estrecha (ANI), que realiza tareas singulares y representa el estado actual, y la Inteligencia Artificial General (AGI), que busca igualar la capacidad intelectual humana de forma transversal.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4198112"/>
            <a:ext cx="9082735" cy="1014983"/>
          </a:xfrm>
          <a:prstGeom prst="roundRect">
            <a:avLst>
              <a:gd name="adj" fmla="val 8000"/>
            </a:avLst>
          </a:prstGeom>
          <a:solidFill>
            <a:srgbClr val="DC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4426712"/>
            <a:ext cx="8351215" cy="55778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2D2440"/>
                </a:solidFill>
                <a:latin typeface="Arial"/>
              </a:rPr>
              <a:t>Resultado esperado: Comprender que todo el valor económico actual proviene de la IA estrecha y que la AGI es un objetivo a largo plazo.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Fundamentos del Aprendizaje Automático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PASO 2 DE 4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0" cy="13716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43000"/>
            <a:ext cx="908273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>
                <a:solidFill>
                  <a:srgbClr val="2D2440"/>
                </a:solidFill>
                <a:latin typeface="Arial"/>
              </a:rPr>
              <a:t>Explorar las ramas del Aprendizaje Automático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42316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Diferencia los paradigmas de aprendizaje: el aprendizaje supervisado (con datos etiquetados y funciones de pérdida), el aprendizaje no supervisado (con datos sin etiquetar para descubrir estructuras) y el aprendizaje por refuerzo.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4198112"/>
            <a:ext cx="9082735" cy="1014983"/>
          </a:xfrm>
          <a:prstGeom prst="roundRect">
            <a:avLst>
              <a:gd name="adj" fmla="val 8000"/>
            </a:avLst>
          </a:prstGeom>
          <a:solidFill>
            <a:srgbClr val="DC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4426712"/>
            <a:ext cx="8351215" cy="55778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2D2440"/>
                </a:solidFill>
                <a:latin typeface="Arial"/>
              </a:rPr>
              <a:t>Resultado esperado: Identificar qué tipo de enfoque metodológico se requiere según la disponibilidad de datos etiquetados en un proyecto de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Aprendizaje Profundo y Redes Neuronales Artificiales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PASO 3 DE 4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0" cy="13716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43000"/>
            <a:ext cx="908273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>
                <a:solidFill>
                  <a:srgbClr val="2D2440"/>
                </a:solidFill>
                <a:latin typeface="Arial"/>
              </a:rPr>
              <a:t>Comprender el procesamiento en Redes Neuronales Artificiales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42316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Analiza cómo una neurona calcula la suma ponderada de sus entradas, añade un sesgo (bias) y pasa el resultado por una función de activación no lineal (como ReLU) para evitar que la red colapse.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857243"/>
            <a:ext cx="9082735" cy="1014983"/>
          </a:xfrm>
          <a:prstGeom prst="roundRect">
            <a:avLst>
              <a:gd name="adj" fmla="val 8000"/>
            </a:avLst>
          </a:prstGeom>
          <a:solidFill>
            <a:srgbClr val="DC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4085843"/>
            <a:ext cx="8351215" cy="55778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2D2440"/>
                </a:solidFill>
                <a:latin typeface="Arial"/>
              </a:rPr>
              <a:t>Resultado esperado: Entender el flujo básico de propagación hacia adelante (forward propagation) y la importancia de la no linealidad matemática.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La Era de los Modelos Generativos y Multimodales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PASO 4 DE 4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0" cy="13716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43000"/>
            <a:ext cx="908273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>
                <a:solidFill>
                  <a:srgbClr val="2D2440"/>
                </a:solidFill>
                <a:latin typeface="Arial"/>
              </a:rPr>
              <a:t>Analizar el funcionamiento de los Modelos de Difusión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42316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Examina cómo operan los sistemas visuales modernos mediante un proceso termodinámico inverso, donde se añade ruido gaussiano a una imagen y se entrena a una red neuronal para revertir el proceso.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857243"/>
            <a:ext cx="9082735" cy="1014983"/>
          </a:xfrm>
          <a:prstGeom prst="roundRect">
            <a:avLst>
              <a:gd name="adj" fmla="val 8000"/>
            </a:avLst>
          </a:prstGeom>
          <a:solidFill>
            <a:srgbClr val="DC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4085843"/>
            <a:ext cx="8351215" cy="55778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2D2440"/>
                </a:solidFill>
                <a:latin typeface="Arial"/>
              </a:rPr>
              <a:t>Resultado esperado: Reconocer cómo se esculpen píxeles con sentido estético partiendo de ruido aleatorio en la generación de imágenes.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>
                <a:solidFill>
                  <a:srgbClr val="2D2440"/>
                </a:solidFill>
                <a:latin typeface="Arial"/>
              </a:rPr>
              <a:t>Antes de terminar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5272887" cy="3931920"/>
          </a:xfrm>
          <a:prstGeom prst="roundRect">
            <a:avLst>
              <a:gd name="adj" fmla="val 8000"/>
            </a:avLst>
          </a:prstGeom>
          <a:solidFill>
            <a:srgbClr val="FF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79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2D2440"/>
                </a:solidFill>
                <a:latin typeface="Arial"/>
              </a:rPr>
              <a:t>Errores comunes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39"/>
            <a:ext cx="4541367" cy="278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2D2440"/>
                </a:solidFill>
                <a:latin typeface="Arial"/>
              </a:rPr>
              <a:t>• Confundir la Inteligencia Artificial Estrecha (ANI) con sistemas capaces de tener autoconciencia o comprensión genuina del mundo.</a:t>
            </a:r>
          </a:p>
          <a:p>
            <a:pPr algn="l"/>
            <a:r>
              <a:rPr sz="2000" b="0">
                <a:solidFill>
                  <a:srgbClr val="2D2440"/>
                </a:solidFill>
                <a:latin typeface="Arial"/>
              </a:rPr>
              <a:t>• Prescindir de las funciones de activación no lineales en las redes neuronales, lo cual haría que la red equivalga a una simple regresión lineal.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194560"/>
            <a:ext cx="5272887" cy="3931920"/>
          </a:xfrm>
          <a:prstGeom prst="roundRect">
            <a:avLst>
              <a:gd name="adj" fmla="val 8000"/>
            </a:avLst>
          </a:prstGeom>
          <a:solidFill>
            <a:srgbClr val="DC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4487" y="2468879"/>
            <a:ext cx="4541367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2D2440"/>
                </a:solidFill>
                <a:latin typeface="Arial"/>
              </a:rPr>
              <a:t>Checklist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3063239"/>
            <a:ext cx="4541367" cy="278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2D2440"/>
                </a:solidFill>
                <a:latin typeface="Arial"/>
              </a:rPr>
              <a:t>☐ Distingues las categorías secuenciales de la IA (ANI y AGI).</a:t>
            </a:r>
          </a:p>
          <a:p>
            <a:pPr algn="l"/>
            <a:r>
              <a:rPr sz="2000" b="0">
                <a:solidFill>
                  <a:srgbClr val="2D2440"/>
                </a:solidFill>
                <a:latin typeface="Arial"/>
              </a:rPr>
              <a:t>☐ Comprendes las diferencias entre aprendizaje supervisado y no supervisado.</a:t>
            </a:r>
          </a:p>
          <a:p>
            <a:pPr algn="l"/>
            <a:r>
              <a:rPr sz="2000" b="0">
                <a:solidFill>
                  <a:srgbClr val="2D2440"/>
                </a:solidFill>
                <a:latin typeface="Arial"/>
              </a:rPr>
              <a:t>☐ Conoces el rol de las funciones de activación no lineales en el aprendizaje profundo.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>
                <a:solidFill>
                  <a:srgbClr val="2D2440"/>
                </a:solidFill>
                <a:latin typeface="Arial"/>
              </a:rPr>
              <a:t>Reto práctico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10911535" cy="2676144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79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2D2440"/>
                </a:solidFill>
                <a:latin typeface="Arial"/>
              </a:rPr>
              <a:t>Ahora tú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39"/>
            <a:ext cx="10180015" cy="15331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>
                <a:solidFill>
                  <a:srgbClr val="2D2440"/>
                </a:solidFill>
                <a:latin typeface="Arial"/>
              </a:rPr>
              <a:t>Clasifica un problema típico de desarrollo de software (por ejemplo, un sistema de recomendación de productos) dentro de la categoría de Inteligencia Artificial Estrecha (ANI) y justifica si requeriría datos etiquetados.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C4EF5"/>
            </a:gs>
            <a:gs pos="100000">
              <a:srgbClr val="FF7A5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210312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rial"/>
              </a:rP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34747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Material generado por Kairos a partir de «Tratado de Inteligencia Artificial».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Fidelidad a la fuente: 100%.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59893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